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 autoAdjust="0"/>
    <p:restoredTop sz="94676"/>
  </p:normalViewPr>
  <p:slideViewPr>
    <p:cSldViewPr snapToGrid="0">
      <p:cViewPr varScale="1">
        <p:scale>
          <a:sx n="114" d="100"/>
          <a:sy n="114" d="100"/>
        </p:scale>
        <p:origin x="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.dhingra/Downloads/long_term_data_seri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dirty="0"/>
              <a:t>Industry capex and </a:t>
            </a:r>
            <a:r>
              <a:rPr lang="en-GB" sz="1400" dirty="0" err="1"/>
              <a:t>totex</a:t>
            </a:r>
            <a:r>
              <a:rPr lang="en-GB" sz="1400" dirty="0"/>
              <a:t> (£bn)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'Industry totals'!$B$3</c:f>
              <c:strCache>
                <c:ptCount val="1"/>
                <c:pt idx="0">
                  <c:v>Consistent capex - total (net of G&amp;Cs)</c:v>
                </c:pt>
              </c:strCache>
            </c:strRef>
          </c:tx>
          <c:spPr>
            <a:ln w="69850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'Industry totals'!$C$2:$AM$2</c:f>
              <c:strCache>
                <c:ptCount val="37"/>
                <c:pt idx="0">
                  <c:v>1985-86</c:v>
                </c:pt>
                <c:pt idx="1">
                  <c:v>1986-87</c:v>
                </c:pt>
                <c:pt idx="2">
                  <c:v>1987-88</c:v>
                </c:pt>
                <c:pt idx="3">
                  <c:v>1988-89</c:v>
                </c:pt>
                <c:pt idx="4">
                  <c:v>1989-90</c:v>
                </c:pt>
                <c:pt idx="5">
                  <c:v>1990-91</c:v>
                </c:pt>
                <c:pt idx="6">
                  <c:v>1991-92</c:v>
                </c:pt>
                <c:pt idx="7">
                  <c:v>1992-93</c:v>
                </c:pt>
                <c:pt idx="8">
                  <c:v>1993-94</c:v>
                </c:pt>
                <c:pt idx="9">
                  <c:v>1994-95</c:v>
                </c:pt>
                <c:pt idx="10">
                  <c:v>1995-96</c:v>
                </c:pt>
                <c:pt idx="11">
                  <c:v>1996-97</c:v>
                </c:pt>
                <c:pt idx="12">
                  <c:v>1997-98</c:v>
                </c:pt>
                <c:pt idx="13">
                  <c:v>1998-99</c:v>
                </c:pt>
                <c:pt idx="14">
                  <c:v>1999-00</c:v>
                </c:pt>
                <c:pt idx="15">
                  <c:v>2000-01</c:v>
                </c:pt>
                <c:pt idx="16">
                  <c:v>2001-02</c:v>
                </c:pt>
                <c:pt idx="17">
                  <c:v>2002-03</c:v>
                </c:pt>
                <c:pt idx="18">
                  <c:v>2003-04</c:v>
                </c:pt>
                <c:pt idx="19">
                  <c:v>2004-05</c:v>
                </c:pt>
                <c:pt idx="20">
                  <c:v>2005-06</c:v>
                </c:pt>
                <c:pt idx="21">
                  <c:v>2006-07</c:v>
                </c:pt>
                <c:pt idx="22">
                  <c:v>2007-08</c:v>
                </c:pt>
                <c:pt idx="23">
                  <c:v>2008-09</c:v>
                </c:pt>
                <c:pt idx="24">
                  <c:v>2009-10</c:v>
                </c:pt>
                <c:pt idx="25">
                  <c:v>2010-11</c:v>
                </c:pt>
                <c:pt idx="26">
                  <c:v>2011-12</c:v>
                </c:pt>
                <c:pt idx="27">
                  <c:v>2012-13</c:v>
                </c:pt>
                <c:pt idx="28">
                  <c:v>2013-14</c:v>
                </c:pt>
                <c:pt idx="29">
                  <c:v>2014-15</c:v>
                </c:pt>
                <c:pt idx="30">
                  <c:v>2015-16</c:v>
                </c:pt>
                <c:pt idx="31">
                  <c:v>2016-17</c:v>
                </c:pt>
                <c:pt idx="32">
                  <c:v>2017-18</c:v>
                </c:pt>
                <c:pt idx="33">
                  <c:v>2018-19</c:v>
                </c:pt>
                <c:pt idx="34">
                  <c:v>2019-20</c:v>
                </c:pt>
                <c:pt idx="35">
                  <c:v>2020-21</c:v>
                </c:pt>
                <c:pt idx="36">
                  <c:v>2021-22</c:v>
                </c:pt>
              </c:strCache>
            </c:strRef>
          </c:cat>
          <c:val>
            <c:numRef>
              <c:f>'Industry totals'!$C$3:$AM$3</c:f>
              <c:numCache>
                <c:formatCode>0.0</c:formatCode>
                <c:ptCount val="37"/>
                <c:pt idx="0">
                  <c:v>2.8845357902883686</c:v>
                </c:pt>
                <c:pt idx="1">
                  <c:v>3.2252704497204179</c:v>
                </c:pt>
                <c:pt idx="2">
                  <c:v>3.549549878302849</c:v>
                </c:pt>
                <c:pt idx="3">
                  <c:v>3.7529581181536567</c:v>
                </c:pt>
                <c:pt idx="4">
                  <c:v>4.5881932071802911</c:v>
                </c:pt>
                <c:pt idx="5">
                  <c:v>5.9133326488366409</c:v>
                </c:pt>
                <c:pt idx="6">
                  <c:v>7.0764869658211911</c:v>
                </c:pt>
                <c:pt idx="7">
                  <c:v>6.2839915793484131</c:v>
                </c:pt>
                <c:pt idx="8">
                  <c:v>5.5286952089724615</c:v>
                </c:pt>
                <c:pt idx="9">
                  <c:v>4.6633942968569695</c:v>
                </c:pt>
                <c:pt idx="10">
                  <c:v>4.8220358881083571</c:v>
                </c:pt>
                <c:pt idx="11">
                  <c:v>5.9492994352705777</c:v>
                </c:pt>
                <c:pt idx="12">
                  <c:v>6.5926482438760559</c:v>
                </c:pt>
                <c:pt idx="13">
                  <c:v>6.4027806969106802</c:v>
                </c:pt>
                <c:pt idx="14">
                  <c:v>6.2986967368263977</c:v>
                </c:pt>
                <c:pt idx="15">
                  <c:v>4.559319068143771</c:v>
                </c:pt>
                <c:pt idx="16">
                  <c:v>4.8593664027824106</c:v>
                </c:pt>
                <c:pt idx="17">
                  <c:v>5.5340138577403444</c:v>
                </c:pt>
                <c:pt idx="18">
                  <c:v>5.7617610327553068</c:v>
                </c:pt>
                <c:pt idx="19">
                  <c:v>5.3547194271913394</c:v>
                </c:pt>
                <c:pt idx="20">
                  <c:v>4.9112523274429627</c:v>
                </c:pt>
                <c:pt idx="21">
                  <c:v>6.1536955201405137</c:v>
                </c:pt>
                <c:pt idx="22">
                  <c:v>6.7455731666318277</c:v>
                </c:pt>
                <c:pt idx="23">
                  <c:v>6.3457252242044255</c:v>
                </c:pt>
                <c:pt idx="24">
                  <c:v>5.4112251793925337</c:v>
                </c:pt>
                <c:pt idx="25">
                  <c:v>5.0649198699995113</c:v>
                </c:pt>
                <c:pt idx="26">
                  <c:v>5.8104729064842511</c:v>
                </c:pt>
                <c:pt idx="27">
                  <c:v>5.8150410562045307</c:v>
                </c:pt>
                <c:pt idx="28">
                  <c:v>5.7666761522340515</c:v>
                </c:pt>
                <c:pt idx="29">
                  <c:v>5.5365054533662148</c:v>
                </c:pt>
                <c:pt idx="30">
                  <c:v>5.2325942887156458</c:v>
                </c:pt>
                <c:pt idx="31">
                  <c:v>5.9007542386463614</c:v>
                </c:pt>
                <c:pt idx="32">
                  <c:v>6.3618079397668303</c:v>
                </c:pt>
                <c:pt idx="33">
                  <c:v>6.6955485950275397</c:v>
                </c:pt>
                <c:pt idx="34">
                  <c:v>6.7476078142191547</c:v>
                </c:pt>
                <c:pt idx="35">
                  <c:v>5.8026873630827369</c:v>
                </c:pt>
                <c:pt idx="36">
                  <c:v>6.3671571595435053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CA-0B41-ADE4-9E28300E12E7}"/>
            </c:ext>
          </c:extLst>
        </c:ser>
        <c:ser>
          <c:idx val="1"/>
          <c:order val="1"/>
          <c:tx>
            <c:strRef>
              <c:f>'Industry totals'!$B$4</c:f>
              <c:strCache>
                <c:ptCount val="1"/>
                <c:pt idx="0">
                  <c:v>Consistent totex - total</c:v>
                </c:pt>
              </c:strCache>
            </c:strRef>
          </c:tx>
          <c:spPr>
            <a:ln w="69850" cap="rnd">
              <a:solidFill>
                <a:schemeClr val="dk1">
                  <a:tint val="5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'Industry totals'!$C$2:$AM$2</c:f>
              <c:strCache>
                <c:ptCount val="37"/>
                <c:pt idx="0">
                  <c:v>1985-86</c:v>
                </c:pt>
                <c:pt idx="1">
                  <c:v>1986-87</c:v>
                </c:pt>
                <c:pt idx="2">
                  <c:v>1987-88</c:v>
                </c:pt>
                <c:pt idx="3">
                  <c:v>1988-89</c:v>
                </c:pt>
                <c:pt idx="4">
                  <c:v>1989-90</c:v>
                </c:pt>
                <c:pt idx="5">
                  <c:v>1990-91</c:v>
                </c:pt>
                <c:pt idx="6">
                  <c:v>1991-92</c:v>
                </c:pt>
                <c:pt idx="7">
                  <c:v>1992-93</c:v>
                </c:pt>
                <c:pt idx="8">
                  <c:v>1993-94</c:v>
                </c:pt>
                <c:pt idx="9">
                  <c:v>1994-95</c:v>
                </c:pt>
                <c:pt idx="10">
                  <c:v>1995-96</c:v>
                </c:pt>
                <c:pt idx="11">
                  <c:v>1996-97</c:v>
                </c:pt>
                <c:pt idx="12">
                  <c:v>1997-98</c:v>
                </c:pt>
                <c:pt idx="13">
                  <c:v>1998-99</c:v>
                </c:pt>
                <c:pt idx="14">
                  <c:v>1999-00</c:v>
                </c:pt>
                <c:pt idx="15">
                  <c:v>2000-01</c:v>
                </c:pt>
                <c:pt idx="16">
                  <c:v>2001-02</c:v>
                </c:pt>
                <c:pt idx="17">
                  <c:v>2002-03</c:v>
                </c:pt>
                <c:pt idx="18">
                  <c:v>2003-04</c:v>
                </c:pt>
                <c:pt idx="19">
                  <c:v>2004-05</c:v>
                </c:pt>
                <c:pt idx="20">
                  <c:v>2005-06</c:v>
                </c:pt>
                <c:pt idx="21">
                  <c:v>2006-07</c:v>
                </c:pt>
                <c:pt idx="22">
                  <c:v>2007-08</c:v>
                </c:pt>
                <c:pt idx="23">
                  <c:v>2008-09</c:v>
                </c:pt>
                <c:pt idx="24">
                  <c:v>2009-10</c:v>
                </c:pt>
                <c:pt idx="25">
                  <c:v>2010-11</c:v>
                </c:pt>
                <c:pt idx="26">
                  <c:v>2011-12</c:v>
                </c:pt>
                <c:pt idx="27">
                  <c:v>2012-13</c:v>
                </c:pt>
                <c:pt idx="28">
                  <c:v>2013-14</c:v>
                </c:pt>
                <c:pt idx="29">
                  <c:v>2014-15</c:v>
                </c:pt>
                <c:pt idx="30">
                  <c:v>2015-16</c:v>
                </c:pt>
                <c:pt idx="31">
                  <c:v>2016-17</c:v>
                </c:pt>
                <c:pt idx="32">
                  <c:v>2017-18</c:v>
                </c:pt>
                <c:pt idx="33">
                  <c:v>2018-19</c:v>
                </c:pt>
                <c:pt idx="34">
                  <c:v>2019-20</c:v>
                </c:pt>
                <c:pt idx="35">
                  <c:v>2020-21</c:v>
                </c:pt>
                <c:pt idx="36">
                  <c:v>2021-22</c:v>
                </c:pt>
              </c:strCache>
            </c:strRef>
          </c:cat>
          <c:val>
            <c:numRef>
              <c:f>'Industry totals'!$C$4:$AM$4</c:f>
              <c:numCache>
                <c:formatCode>General</c:formatCode>
                <c:ptCount val="37"/>
                <c:pt idx="4" formatCode="0.0">
                  <c:v>9.7033441011797983</c:v>
                </c:pt>
                <c:pt idx="5" formatCode="0.0">
                  <c:v>10.981255873066669</c:v>
                </c:pt>
                <c:pt idx="6" formatCode="0.0">
                  <c:v>12.382979752644133</c:v>
                </c:pt>
                <c:pt idx="7" formatCode="0.0">
                  <c:v>11.703441133144313</c:v>
                </c:pt>
                <c:pt idx="8" formatCode="0.0">
                  <c:v>11.077694183691463</c:v>
                </c:pt>
                <c:pt idx="9" formatCode="0.0">
                  <c:v>10.287135182902475</c:v>
                </c:pt>
                <c:pt idx="10" formatCode="0.0">
                  <c:v>10.081853633863101</c:v>
                </c:pt>
                <c:pt idx="11" formatCode="0.0">
                  <c:v>11.054129170049764</c:v>
                </c:pt>
                <c:pt idx="12" formatCode="0.0">
                  <c:v>11.507548803507296</c:v>
                </c:pt>
                <c:pt idx="13" formatCode="0.0">
                  <c:v>11.295335375090726</c:v>
                </c:pt>
                <c:pt idx="14" formatCode="0.0">
                  <c:v>11.397048075247421</c:v>
                </c:pt>
                <c:pt idx="15" formatCode="0.0">
                  <c:v>9.1737521550834149</c:v>
                </c:pt>
                <c:pt idx="16" formatCode="0.0">
                  <c:v>9.483726893004544</c:v>
                </c:pt>
                <c:pt idx="17" formatCode="0.0">
                  <c:v>10.227308615303668</c:v>
                </c:pt>
                <c:pt idx="18" formatCode="0.0">
                  <c:v>10.540316309726673</c:v>
                </c:pt>
                <c:pt idx="19" formatCode="0.0">
                  <c:v>10.178926806946881</c:v>
                </c:pt>
                <c:pt idx="20" formatCode="0.0">
                  <c:v>9.9386401245345013</c:v>
                </c:pt>
                <c:pt idx="21" formatCode="0.0">
                  <c:v>11.394856020753787</c:v>
                </c:pt>
                <c:pt idx="22" formatCode="0.0">
                  <c:v>11.868822541011792</c:v>
                </c:pt>
                <c:pt idx="23" formatCode="0.0">
                  <c:v>11.472237867504825</c:v>
                </c:pt>
                <c:pt idx="24" formatCode="0.0">
                  <c:v>10.650367047223291</c:v>
                </c:pt>
                <c:pt idx="25" formatCode="0.0">
                  <c:v>10.258426048338089</c:v>
                </c:pt>
                <c:pt idx="26" formatCode="0.0">
                  <c:v>9.7890938483251109</c:v>
                </c:pt>
                <c:pt idx="27" formatCode="0.0">
                  <c:v>9.9473563224143984</c:v>
                </c:pt>
                <c:pt idx="28" formatCode="0.0">
                  <c:v>9.9595682849277729</c:v>
                </c:pt>
                <c:pt idx="29" formatCode="0.0">
                  <c:v>9.7623539962116599</c:v>
                </c:pt>
                <c:pt idx="30" formatCode="0.0">
                  <c:v>9.3803276276665688</c:v>
                </c:pt>
                <c:pt idx="31" formatCode="0.0">
                  <c:v>10.263441364565828</c:v>
                </c:pt>
                <c:pt idx="32" formatCode="0.0">
                  <c:v>10.783239233805652</c:v>
                </c:pt>
                <c:pt idx="33" formatCode="0.0">
                  <c:v>11.368864217498562</c:v>
                </c:pt>
                <c:pt idx="34" formatCode="0.0">
                  <c:v>11.236194989567787</c:v>
                </c:pt>
                <c:pt idx="35" formatCode="0.0">
                  <c:v>10.397318783540397</c:v>
                </c:pt>
                <c:pt idx="36" formatCode="0.0">
                  <c:v>11.069486544316511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CA-0B41-ADE4-9E28300E12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9167248"/>
        <c:axId val="249167664"/>
      </c:lineChart>
      <c:catAx>
        <c:axId val="249167248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9167664"/>
        <c:crosses val="autoZero"/>
        <c:auto val="1"/>
        <c:lblAlgn val="ctr"/>
        <c:lblOffset val="100"/>
        <c:noMultiLvlLbl val="0"/>
      </c:catAx>
      <c:valAx>
        <c:axId val="249167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9167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97B2-598D-CF85-421E-4508F199D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8BAFB-811A-51A7-2BA5-78AEAB85F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4B94C-967D-350C-A745-15F744D26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9C9-808F-4F48-9F6C-073BB33C5485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0A20-16CC-BD5A-5D81-886D5C81D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6C73E-492C-F0A8-0444-D8BFF2DA7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15A4-FA7B-40AF-B02A-43C63A290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036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FECF-FFC4-6D0C-6C6F-3974770D9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0197B-42DD-00E1-8A3E-6F5B38C49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1D44B-F154-CA3D-F83F-4617616E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9C9-808F-4F48-9F6C-073BB33C5485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6D6CB-40C2-E69A-55C9-B6A8CBA3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D4AC2-1902-560D-DB7A-AD2B315C6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15A4-FA7B-40AF-B02A-43C63A290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51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96382-67D6-991F-4D07-09F12C59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ACFC1-2C06-9CB5-88A9-13363BA64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992BB-071D-3478-DC16-131746439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9C9-808F-4F48-9F6C-073BB33C5485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FB948-F744-EEB0-2945-144D7A629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8AC0C-8D75-6744-077D-534BDEB6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15A4-FA7B-40AF-B02A-43C63A290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70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FA883-5414-9E9C-8BB4-90C93560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ADE7C-4155-FB04-ABE6-1CBDF3EBB7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E848D-D2BB-B5E0-F687-356577A21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1C55D-6480-D3E8-0AB7-B51F4A48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9C9-808F-4F48-9F6C-073BB33C5485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E5D52-1A47-49E1-946B-CA3D4919B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4358F-E86B-5CFC-0FD6-B3DC56D7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15A4-FA7B-40AF-B02A-43C63A290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7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3895-C996-E342-F319-6AEA07A18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F7F05-CE3E-ED31-0EBD-C33FE4BA8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9A239-9E62-2952-CA8B-18D023627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56A74-6BFD-ABF5-665C-08A92B0C0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35225-6E88-1931-2180-8E1686C8F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129B4-C706-BB0A-38C8-5023F8E8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9C9-808F-4F48-9F6C-073BB33C5485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1FD4A-B05F-3F7E-7A2E-E87531D54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36BC1-E7D1-4928-9EC6-1F98B544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15A4-FA7B-40AF-B02A-43C63A290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729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FE6D-0545-010A-CA5D-D923C0EDE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7A8F0-475E-1037-220D-7E307C02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9C9-808F-4F48-9F6C-073BB33C5485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41E967-D7AC-5185-2412-BDBA0C92D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5BF40-5982-FD0E-EEB7-4AE13992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15A4-FA7B-40AF-B02A-43C63A290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33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7CED5-8DFD-88D8-28A6-0023802F0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9C9-808F-4F48-9F6C-073BB33C5485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B49A8-B5E6-F037-CD4B-25A50498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FD7E2-0E26-F484-3CDA-BBB91760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15A4-FA7B-40AF-B02A-43C63A290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497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2A71-C495-B1AF-18EB-B0FDE3B3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5DEF1-67A5-A3D2-34E7-BA294238E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21755A-9228-B949-E066-F82D2899E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7117-8125-0FAC-1949-8A7EE40D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9C9-808F-4F48-9F6C-073BB33C5485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01620-CC2C-2E6B-7B1B-161A0CB9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579AC-311B-22CA-E587-A0AABB594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15A4-FA7B-40AF-B02A-43C63A290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832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E7B3-C2C1-AC80-E9D5-EE7E4CF6D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887A6-351F-469A-2D08-4526370793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7BEF2-C586-9B41-30A5-CE2A6AD2F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C530A-6EDB-CB8E-FD3E-D641A06F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9C9-808F-4F48-9F6C-073BB33C5485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FB9B7-53D8-9F24-F161-EDD40866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EDC2F-6FFB-B52D-D6D5-A9AC2E4E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15A4-FA7B-40AF-B02A-43C63A290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32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9EF11-1247-58FF-CD5C-7C6F4628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3FEFA-7A32-735B-6084-8F1B26EBF4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A1D54-9E5D-CDCC-FAC1-494D2DFB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9C9-808F-4F48-9F6C-073BB33C5485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034FA-C346-8E4B-1290-F483BD1D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5ED4A-2EC4-8DD4-224A-0E0B1305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15A4-FA7B-40AF-B02A-43C63A290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9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CC5E66-5E77-1544-C208-3AE72EE62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0A6DD-0DC8-B7BF-1347-2B9FB4B01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EF384-F8A3-C8F4-1739-D95B6A499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9C9-808F-4F48-9F6C-073BB33C5485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3DB91-A828-A8D9-25D4-81FAFE794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D3885-CBE8-9654-52EB-E23AF9C1C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15A4-FA7B-40AF-B02A-43C63A290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364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E2C0C-AA37-E791-CB30-66E03AD0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7F878-A0FB-6172-C6F4-4BB1AAB7C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CE216-3CB1-0B2C-0811-758BDD24A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D7B9C9-808F-4F48-9F6C-073BB33C5485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B83DF-6062-30D5-0115-70FC2BCCD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8996F-BE13-251F-2672-F255CCAFF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A15A4-FA7B-40AF-B02A-43C63A290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48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908F-CD9D-68A9-FCCB-1A737A373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05934"/>
            <a:ext cx="9144000" cy="2387600"/>
          </a:xfrm>
        </p:spPr>
        <p:txBody>
          <a:bodyPr/>
          <a:lstStyle/>
          <a:p>
            <a:r>
              <a:rPr lang="en-GB" dirty="0">
                <a:latin typeface="Garamond" panose="02020404030301010803" pitchFamily="18" charset="0"/>
              </a:rPr>
              <a:t>Sewage in Our Waters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6DCE0-109F-7052-BC62-859C2D78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63684"/>
            <a:ext cx="9144000" cy="1655762"/>
          </a:xfrm>
        </p:spPr>
        <p:txBody>
          <a:bodyPr/>
          <a:lstStyle/>
          <a:p>
            <a:r>
              <a:rPr lang="en-GB" dirty="0">
                <a:latin typeface="Garamond" panose="02020404030301010803" pitchFamily="18" charset="0"/>
              </a:rPr>
              <a:t>Introduction</a:t>
            </a:r>
          </a:p>
          <a:p>
            <a:r>
              <a:rPr lang="en-GB" dirty="0" err="1">
                <a:latin typeface="Garamond" panose="02020404030301010803" pitchFamily="18" charset="0"/>
              </a:rPr>
              <a:t>Dr.</a:t>
            </a:r>
            <a:r>
              <a:rPr lang="en-GB" dirty="0">
                <a:latin typeface="Garamond" panose="02020404030301010803" pitchFamily="18" charset="0"/>
              </a:rPr>
              <a:t> Swati Dhingra</a:t>
            </a:r>
          </a:p>
          <a:p>
            <a:endParaRPr lang="en-GB" dirty="0">
              <a:latin typeface="Garamond" panose="02020404030301010803" pitchFamily="18" charset="0"/>
            </a:endParaRPr>
          </a:p>
          <a:p>
            <a:endParaRPr lang="en-GB" dirty="0">
              <a:latin typeface="Garamond" panose="020204040303010108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0B4AF-BFB7-B096-5B9B-1C77B561BF18}"/>
              </a:ext>
            </a:extLst>
          </p:cNvPr>
          <p:cNvSpPr txBox="1"/>
          <p:nvPr/>
        </p:nvSpPr>
        <p:spPr>
          <a:xfrm>
            <a:off x="2579913" y="2937329"/>
            <a:ext cx="7032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Garamond" panose="02020404030301010803" pitchFamily="18" charset="0"/>
              </a:rPr>
              <a:t>LSE Environment Week</a:t>
            </a:r>
          </a:p>
          <a:p>
            <a:pPr algn="ctr"/>
            <a:r>
              <a:rPr lang="en-GB" dirty="0">
                <a:latin typeface="Garamond" panose="02020404030301010803" pitchFamily="18" charset="0"/>
              </a:rPr>
              <a:t>26/09/2024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02BEC6-719C-D5FC-7FE3-C9B4C121E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371" y="4964170"/>
            <a:ext cx="924054" cy="97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BD95A9-E611-5F44-282B-18A15D0E7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462" y="5086224"/>
            <a:ext cx="1933074" cy="72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629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7BAB5EF-3946-EF1D-3939-D5D48E904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Serious Water Pollution Incidents in England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6DCE0-109F-7052-BC62-859C2D782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>
              <a:latin typeface="Garamond" panose="02020404030301010803" pitchFamily="18" charset="0"/>
            </a:endParaRPr>
          </a:p>
          <a:p>
            <a:endParaRPr lang="en-GB" dirty="0">
              <a:latin typeface="Garamond" panose="020204040303010108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FF6487-63CF-1121-24F4-A9A456AB47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19" t="6990" r="4552" b="1355"/>
          <a:stretch/>
        </p:blipFill>
        <p:spPr>
          <a:xfrm>
            <a:off x="1908312" y="1746920"/>
            <a:ext cx="7646505" cy="46127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A03936-3B0B-628F-C948-FCF91332A075}"/>
              </a:ext>
            </a:extLst>
          </p:cNvPr>
          <p:cNvSpPr txBox="1"/>
          <p:nvPr/>
        </p:nvSpPr>
        <p:spPr>
          <a:xfrm>
            <a:off x="2968486" y="6542364"/>
            <a:ext cx="602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Source: DEFRA</a:t>
            </a:r>
          </a:p>
        </p:txBody>
      </p:sp>
    </p:spTree>
    <p:extLst>
      <p:ext uri="{BB962C8B-B14F-4D97-AF65-F5344CB8AC3E}">
        <p14:creationId xmlns:p14="http://schemas.microsoft.com/office/powerpoint/2010/main" val="836887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0EBD-C30E-FE26-2013-0BC04DD38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 Water Ecological Status</a:t>
            </a:r>
          </a:p>
        </p:txBody>
      </p:sp>
      <p:pic>
        <p:nvPicPr>
          <p:cNvPr id="5" name="Picture 4" descr="A group of pie charts&#10;&#10;Description automatically generated">
            <a:extLst>
              <a:ext uri="{FF2B5EF4-FFF2-40B4-BE49-F238E27FC236}">
                <a16:creationId xmlns:a16="http://schemas.microsoft.com/office/drawing/2014/main" id="{2168A6AB-8894-67FC-2AC4-400E18C646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3" t="3735" r="3041" b="8320"/>
          <a:stretch/>
        </p:blipFill>
        <p:spPr>
          <a:xfrm>
            <a:off x="2340219" y="1417177"/>
            <a:ext cx="7453138" cy="50756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D830F0-CF3F-EA76-686B-EC26623AA24B}"/>
              </a:ext>
            </a:extLst>
          </p:cNvPr>
          <p:cNvSpPr txBox="1"/>
          <p:nvPr/>
        </p:nvSpPr>
        <p:spPr>
          <a:xfrm>
            <a:off x="2968486" y="6542364"/>
            <a:ext cx="602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Source: DEFRA and WISE for 2016-2021</a:t>
            </a:r>
          </a:p>
        </p:txBody>
      </p:sp>
    </p:spTree>
    <p:extLst>
      <p:ext uri="{BB962C8B-B14F-4D97-AF65-F5344CB8AC3E}">
        <p14:creationId xmlns:p14="http://schemas.microsoft.com/office/powerpoint/2010/main" val="130584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EC9E25-AB58-B9C1-76CE-C65521382FBB}"/>
              </a:ext>
            </a:extLst>
          </p:cNvPr>
          <p:cNvSpPr txBox="1"/>
          <p:nvPr/>
        </p:nvSpPr>
        <p:spPr>
          <a:xfrm>
            <a:off x="2968486" y="6542364"/>
            <a:ext cx="602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Source: House of Commons 2024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68952089-FCEA-5E47-716D-7B641E63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Commitment Targets of Water Companies</a:t>
            </a:r>
          </a:p>
        </p:txBody>
      </p:sp>
      <p:pic>
        <p:nvPicPr>
          <p:cNvPr id="24" name="Content Placeholder 13">
            <a:extLst>
              <a:ext uri="{FF2B5EF4-FFF2-40B4-BE49-F238E27FC236}">
                <a16:creationId xmlns:a16="http://schemas.microsoft.com/office/drawing/2014/main" id="{8D6B8E2F-98E1-B69E-8D7D-81765866F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lum/>
          </a:blip>
          <a:stretch>
            <a:fillRect/>
          </a:stretch>
        </p:blipFill>
        <p:spPr>
          <a:xfrm>
            <a:off x="2889254" y="1443365"/>
            <a:ext cx="6188202" cy="512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2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5074-2D7B-0F1A-1AFB-BE1123B2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Industry capital expenditures over time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EF47191-4829-43D4-8C31-57833562EF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2907623"/>
              </p:ext>
            </p:extLst>
          </p:nvPr>
        </p:nvGraphicFramePr>
        <p:xfrm>
          <a:off x="2398643" y="1484243"/>
          <a:ext cx="7328453" cy="50086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398BC67-7A33-4FFD-53DC-1A4C57DD337B}"/>
              </a:ext>
            </a:extLst>
          </p:cNvPr>
          <p:cNvSpPr txBox="1"/>
          <p:nvPr/>
        </p:nvSpPr>
        <p:spPr>
          <a:xfrm>
            <a:off x="2968486" y="6542364"/>
            <a:ext cx="602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Source: Ofwat</a:t>
            </a:r>
          </a:p>
        </p:txBody>
      </p:sp>
    </p:spTree>
    <p:extLst>
      <p:ext uri="{BB962C8B-B14F-4D97-AF65-F5344CB8AC3E}">
        <p14:creationId xmlns:p14="http://schemas.microsoft.com/office/powerpoint/2010/main" val="1144140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5074-2D7B-0F1A-1AFB-BE1123B2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 and sewerage bills over time</a:t>
            </a:r>
          </a:p>
        </p:txBody>
      </p:sp>
      <p:pic>
        <p:nvPicPr>
          <p:cNvPr id="12" name="slide2" descr="Dashboard 1">
            <a:extLst>
              <a:ext uri="{FF2B5EF4-FFF2-40B4-BE49-F238E27FC236}">
                <a16:creationId xmlns:a16="http://schemas.microsoft.com/office/drawing/2014/main" id="{6B377D84-C0BB-8B9D-8289-E0B36FD4F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191" y="1290958"/>
            <a:ext cx="10095246" cy="548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30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5074-2D7B-0F1A-1AFB-BE1123B2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Public sentiment and 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A85E0-A5B7-998A-CB75-6BA73C6887A9}"/>
              </a:ext>
            </a:extLst>
          </p:cNvPr>
          <p:cNvSpPr txBox="1"/>
          <p:nvPr/>
        </p:nvSpPr>
        <p:spPr>
          <a:xfrm>
            <a:off x="2968486" y="6542364"/>
            <a:ext cx="602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Source: Lexis Nexis analysis and Ofwat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BA46E0B5-78AA-AE3C-2651-45D4AD9953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55305"/>
            <a:ext cx="5883530" cy="3834506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BC8B1AED-DD1C-F1A4-AB78-940F721818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6884" y="1855304"/>
            <a:ext cx="5932916" cy="380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59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76</Words>
  <Application>Microsoft Macintosh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Garamond</vt:lpstr>
      <vt:lpstr>Office Theme</vt:lpstr>
      <vt:lpstr>Sewage in Our Waters</vt:lpstr>
      <vt:lpstr>Serious Water Pollution Incidents in England </vt:lpstr>
      <vt:lpstr>Surface Water Ecological Status</vt:lpstr>
      <vt:lpstr>Commitment Targets of Water Companies</vt:lpstr>
      <vt:lpstr>Industry capital expenditures over time</vt:lpstr>
      <vt:lpstr>Water and sewerage bills over time</vt:lpstr>
      <vt:lpstr>Public sentiment and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Danan D</dc:creator>
  <cp:lastModifiedBy>Dhingra,S</cp:lastModifiedBy>
  <cp:revision>29</cp:revision>
  <dcterms:created xsi:type="dcterms:W3CDTF">2024-09-25T13:13:17Z</dcterms:created>
  <dcterms:modified xsi:type="dcterms:W3CDTF">2024-09-26T16:52:15Z</dcterms:modified>
</cp:coreProperties>
</file>